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Public Sans" panose="020B0604020202020204" charset="0"/>
      <p:regular r:id="rId13"/>
    </p:embeddedFont>
    <p:embeddedFont>
      <p:font typeface="Public Sans Bold" panose="020B0604020202020204" charset="0"/>
      <p:regular r:id="rId14"/>
    </p:embeddedFont>
    <p:embeddedFont>
      <p:font typeface="Public Sans Medium" panose="020B0604020202020204" charset="0"/>
      <p:regular r:id="rId15"/>
    </p:embeddedFont>
    <p:embeddedFont>
      <p:font typeface="Public Sans SemiBold" panose="020B0604020202020204" charset="0"/>
      <p:regular r:id="rId16"/>
    </p:embeddedFont>
    <p:embeddedFont>
      <p:font typeface="Sora ExtraBold" panose="020B0604020202020204" charset="0"/>
      <p:regular r:id="rId17"/>
    </p:embeddedFont>
    <p:embeddedFont>
      <p:font typeface="Sora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7505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central tension: customers return, but relatively few subscribe. The analysis points toward conversion and retention design rather than simply chasing larger baskets.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confidence in the readout without overselling precision. The file is large enough to identify patterns, and the missing review ratings were handled consistently by category median.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bars from loyal to new. The commercial center of gravity is retention: the base is not primarily a one-time acquisition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comparison plainly, then add the guardrail: this is a descriptive result in the sample. It tells us where to investigate, not why the difference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Subscription is the clearest commercial gap: only 27% are subscribed, and most revenue still comes from non-subscribers. The nearly flat average spend points toward conversion and retention design rather than a basket-size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839 discounted purchases above average spend. Then show where discount rates are highest. The question is not whether discounts reach valuable shoppers; it is whether each product is earning that subsidy.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clearest product-level signals in the report. The recommended move is focused merchandising: use highly rated products as campaign starting points, then test the audience and offer around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usable levers emerge. Express orders carry a slightly higher average purchase amount, while Young Adult and Middle-aged customers lead revenue by age group. These are targeting inputs to test, not causal explanations.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Translate the evidence into four actions: make subscription more compelling, reward the behavior already present, tighten discount governance, and target campaigns where product, age, and shipping signals are strongest.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measurement agenda. The next decision is not whether to run tests; it is whether conversion improves without weakening margin or repeat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787400"/>
            <a:ext cx="87564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CUSTOMER SHOPPING BEHAVIOR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1071166"/>
            <a:ext cx="8146846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0" spc="-84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Customer shopping is broad, repeat-led, and under-converted to subscription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65156" y="4220766"/>
            <a:ext cx="814684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3,900 purchases reveal a loyal base — but subscriptions remain a minority behavior.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dataset is large enough to see patterns, not just anecdotes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735733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broad transaction file supports directional commercial decisions.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277368"/>
          <a:ext cx="9143771" cy="914400"/>
        </p:xfrm>
        <a:graphic>
          <a:graphicData uri="http://schemas.openxmlformats.org/drawingml/2006/table">
            <a:tbl>
              <a:tblPr/>
              <a:tblGrid>
                <a:gridCol w="3072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0" spc="92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SCOPE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0" spc="92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READOUT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0" spc="92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WHY IT MATTERS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3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Purchases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3,900 transactions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Enough volume to see repeat and conversion patterns.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3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Fields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18 fields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Customer and purchase dimensions can be read together.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6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Data quality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37 missing review ratings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Handled with the category median rather than discarded.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6034088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findings are descriptive patterns in the uploaded report, not causal estimates.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402132" y="6451898"/>
            <a:ext cx="78956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Loyal customers dominate the base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49959"/>
            <a:ext cx="6476838" cy="3429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26368" y="1622723"/>
            <a:ext cx="385574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OPERATING IMPLICATION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26368" y="1906488"/>
            <a:ext cx="3855743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0" spc="-112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Retention</a:t>
            </a:r>
            <a:r>
              <a:rPr lang="en-US" sz="5600" kern="0" spc="-112" dirty="0">
                <a:solidFill>
                  <a:srgbClr val="1B2632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 is the center of gravity.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7726368" y="4967188"/>
            <a:ext cx="3855743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With 3,116 loyal customers versus 701 returning and 83 new, the base is already signaling repeat behavior.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398263" y="6451898"/>
            <a:ext cx="79343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Revenue is concentrated among male customers in this sample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735733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gap is descriptive, not an explanation of cause.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530872"/>
            <a:ext cx="6603835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76998" y="2963763"/>
            <a:ext cx="35051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SAMPLE READOUT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076998" y="3247529"/>
            <a:ext cx="3505112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4000" kern="0" spc="-40" dirty="0">
                <a:solidFill>
                  <a:srgbClr val="0E7C86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$157,890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076998" y="4032349"/>
            <a:ext cx="350511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Reported revenue from male customers versus </a:t>
            </a: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$75,191</a:t>
            </a: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from female customers.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76998" y="5098455"/>
            <a:ext cx="350511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this as a targeting signal to investigate, not as a causal conclusion.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397766" y="6451898"/>
            <a:ext cx="79392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299042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Subscription is the clearest commercial gap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713508"/>
            <a:ext cx="4952876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4161433"/>
            <a:ext cx="6299042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27% subscribed · 73% not subscribed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8212" y="0"/>
            <a:ext cx="4673483" cy="50932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77796" y="5271095"/>
            <a:ext cx="5854554" cy="1169988"/>
          </a:xfrm>
          <a:prstGeom prst="rect">
            <a:avLst/>
          </a:prstGeom>
          <a:solidFill>
            <a:srgbClr val="E7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55591" y="5448895"/>
            <a:ext cx="567675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Subscriber revenue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55591" y="5856883"/>
            <a:ext cx="5498962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kern="0" spc="-64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$62,645</a:t>
            </a:r>
            <a:endParaRPr lang="en-US" sz="3200" dirty="0"/>
          </a:p>
        </p:txBody>
      </p:sp>
      <p:sp>
        <p:nvSpPr>
          <p:cNvPr id="9" name="Shape 5"/>
          <p:cNvSpPr/>
          <p:nvPr/>
        </p:nvSpPr>
        <p:spPr>
          <a:xfrm>
            <a:off x="6159346" y="5271095"/>
            <a:ext cx="5854554" cy="116998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337141" y="5448895"/>
            <a:ext cx="567675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Non-subscriber revenue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337141" y="5856883"/>
            <a:ext cx="5498962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kern="0" spc="-64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$170,436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177796" y="6634758"/>
            <a:ext cx="1201389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spend is nearly flat, so the opportunity is conversion and retention design—not simply a bigger basket.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Discounts are reaching high-value shoppers, but some products lean on them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2578894"/>
            <a:ext cx="5958631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kern="0" spc="-144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839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585" y="3620294"/>
            <a:ext cx="5958631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discounted purchases above average spend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4598789"/>
            <a:ext cx="59586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Discount reach is not confined to low-value shoppers.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25305" y="1735733"/>
          <a:ext cx="9143771" cy="914400"/>
        </p:xfrm>
        <a:graphic>
          <a:graphicData uri="http://schemas.openxmlformats.org/drawingml/2006/table">
            <a:tbl>
              <a:tblPr/>
              <a:tblGrid>
                <a:gridCol w="2734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2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0" spc="92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PRODUCT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kern="0" spc="92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DISCOUNT RATE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Hat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50.00%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Sneakers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49.66%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Coat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49.07%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Sweater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48.17%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Pants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47.37%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609585" y="5926138"/>
            <a:ext cx="10972526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implication is tighter discount governance: protect margin while testing where incentives genuinely change behavior.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399354" y="6451898"/>
            <a:ext cx="79234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Product signals point to a focused merchandising story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735733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Start campaigns with products customers already rate highly.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242443"/>
          <a:ext cx="6659694" cy="2826571"/>
        </p:xfrm>
        <a:graphic>
          <a:graphicData uri="http://schemas.openxmlformats.org/drawingml/2006/table">
            <a:tbl>
              <a:tblPr/>
              <a:tblGrid>
                <a:gridCol w="4129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0" spc="92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TOP-RATED PRODUCT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kern="0" spc="92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AVERAGE RATING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Gloves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3.86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Sandals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3.84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Boots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3.82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Hat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3.80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Skirt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3.78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26368" y="2242443"/>
            <a:ext cx="385574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MERCHANDISING IMPLICATION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26368" y="2526209"/>
            <a:ext cx="3855743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</a:t>
            </a:r>
            <a:r>
              <a:rPr lang="en-US" sz="2400" kern="0" spc="-24" dirty="0">
                <a:solidFill>
                  <a:srgbClr val="0E7C8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product proof</a:t>
            </a:r>
            <a:r>
              <a:rPr lang="en-US" sz="2400" kern="0" spc="-24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as the campaign starting point.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726368" y="3504704"/>
            <a:ext cx="3855743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Build focused tests around the highest-rated products, then pair them with the category and audience signals that convert.</a:t>
            </a:r>
            <a:endParaRPr lang="en-US" sz="1700" dirty="0"/>
          </a:p>
        </p:txBody>
      </p:sp>
      <p:sp>
        <p:nvSpPr>
          <p:cNvPr id="4" name="Text 5"/>
          <p:cNvSpPr/>
          <p:nvPr/>
        </p:nvSpPr>
        <p:spPr>
          <a:xfrm>
            <a:off x="11404116" y="6451898"/>
            <a:ext cx="7875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Shipping and age groups offer practical targeting levers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735733"/>
            <a:ext cx="52576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AVERAGE PURCHASE AMOUNT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40136"/>
            <a:ext cx="4952876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432498"/>
            <a:ext cx="5257668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Express leads Standard: $60.48 versus $58.46.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324442" y="1735733"/>
            <a:ext cx="525766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REVENUE BY AGE GROUP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2060773"/>
            <a:ext cx="4952876" cy="2857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85" y="5926138"/>
            <a:ext cx="10972526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Practical tests: position express shipping and prioritize the highest-revenue age groups without treating either signal as causal.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908627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0" spc="-32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Turn the analysis into four operating moves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735733"/>
            <a:ext cx="3390815" cy="1937246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2780" y="1938933"/>
            <a:ext cx="464630" cy="377825"/>
          </a:xfrm>
          <a:prstGeom prst="rect">
            <a:avLst/>
          </a:prstGeom>
          <a:solidFill>
            <a:srgbClr val="E7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20727" y="2009080"/>
            <a:ext cx="85832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12780" y="2471638"/>
            <a:ext cx="29844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Design subscription benefits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780" y="2846792"/>
            <a:ext cx="2984425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Test benefits that make repeat behavior easier to choose.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127397" y="1735733"/>
            <a:ext cx="3390815" cy="1937246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30592" y="1938933"/>
            <a:ext cx="511857" cy="377825"/>
          </a:xfrm>
          <a:prstGeom prst="rect">
            <a:avLst/>
          </a:prstGeom>
          <a:solidFill>
            <a:srgbClr val="E7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38539" y="2009080"/>
            <a:ext cx="90554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330592" y="2471638"/>
            <a:ext cx="29844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Reward loyalty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30592" y="2826249"/>
            <a:ext cx="2984425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Build on the large loyal base rather than treating every shopper alike.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09585" y="3799979"/>
            <a:ext cx="3390815" cy="2204244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2780" y="4003179"/>
            <a:ext cx="518306" cy="377825"/>
          </a:xfrm>
          <a:prstGeom prst="rect">
            <a:avLst/>
          </a:prstGeom>
          <a:solidFill>
            <a:srgbClr val="E7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20727" y="4073327"/>
            <a:ext cx="911996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12780" y="4535884"/>
            <a:ext cx="29844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Govern discounts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2780" y="5000030"/>
            <a:ext cx="2984425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Protect margin where products appear to lean on incentives.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127397" y="3799979"/>
            <a:ext cx="3390815" cy="2204244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30592" y="4003179"/>
            <a:ext cx="517512" cy="377825"/>
          </a:xfrm>
          <a:prstGeom prst="rect">
            <a:avLst/>
          </a:prstGeom>
          <a:solidFill>
            <a:srgbClr val="E7EA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38539" y="4073327"/>
            <a:ext cx="91120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5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4330592" y="4535884"/>
            <a:ext cx="29844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0" spc="-18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Target the proof points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330592" y="5000030"/>
            <a:ext cx="2984425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Focus campaigns on rated products, high-revenue age groups, and express shipping.</a:t>
            </a:r>
            <a:endParaRPr lang="en-US" sz="14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09585" y="6451898"/>
            <a:ext cx="79263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0" spc="44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787400"/>
            <a:ext cx="926441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1071166"/>
            <a:ext cx="8654833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kern="0" spc="-84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Test conversion plays against margin and repeat behavior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65156" y="3458766"/>
            <a:ext cx="865483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Define the decision metrics before scaling: subscriber conversion, repeat purchase, product margin, discount lift, and cohort retention.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5156" y="4627166"/>
            <a:ext cx="865483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Conversion</a:t>
            </a:r>
            <a:r>
              <a:rPr lang="en-US" sz="14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Did the offer move shoppers into subscription?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65156" y="5148163"/>
            <a:ext cx="865483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Economics</a:t>
            </a:r>
            <a:r>
              <a:rPr lang="en-US" sz="14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Did margin hold after discounts and benefits?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5156" y="5669161"/>
            <a:ext cx="865483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Durability</a:t>
            </a:r>
            <a:r>
              <a:rPr lang="en-US" sz="14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Did repeat behavior and cohort retention improve?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65156" y="5014813"/>
            <a:ext cx="8654833" cy="12700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5156" y="5535811"/>
            <a:ext cx="8654833" cy="12700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</Words>
  <Application>Microsoft Office PowerPoint</Application>
  <PresentationFormat>Widescreen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Public Sans Bold</vt:lpstr>
      <vt:lpstr>Public Sans Medium</vt:lpstr>
      <vt:lpstr>Public Sans</vt:lpstr>
      <vt:lpstr>Sora SemiBold</vt:lpstr>
      <vt:lpstr>Public Sans SemiBold</vt:lpstr>
      <vt:lpstr>Sora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Roy Torres</cp:lastModifiedBy>
  <cp:revision>3</cp:revision>
  <dcterms:created xsi:type="dcterms:W3CDTF">2026-09-25T03:08:31Z</dcterms:created>
  <dcterms:modified xsi:type="dcterms:W3CDTF">2026-09-25T03:28:48Z</dcterms:modified>
</cp:coreProperties>
</file>